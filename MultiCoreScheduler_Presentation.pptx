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4F9CF9">
              <a:alpha val="12000"/>
            </a:srgbClr>
          </a:solidFill>
          <a:ln w="12700">
            <a:solidFill>
              <a:srgbClr val="4F9CF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C77DFF">
              <a:alpha val="10000"/>
            </a:srgbClr>
          </a:solidFill>
          <a:ln w="12700">
            <a:solidFill>
              <a:srgbClr val="C77D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384048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58368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F9A84F"/>
          </a:solidFill>
          <a:ln w="12700">
            <a:solidFill>
              <a:srgbClr val="F9A8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658368"/>
            <a:ext cx="256032" cy="201168"/>
          </a:xfrm>
          <a:prstGeom prst="roundRect">
            <a:avLst>
              <a:gd name="adj" fmla="val 18182"/>
            </a:avLst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7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CSE316 · Operating Systems · CA2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Load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Scheduler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process distribution across CPU cores to maximize throughput,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starvation, and minimize idle time.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1965960" cy="5029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4069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4069080"/>
            <a:ext cx="1965960" cy="5029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4069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4069080"/>
            <a:ext cx="1965960" cy="5029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4069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1097280"/>
            <a:ext cx="1828800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6328" y="1289304"/>
            <a:ext cx="155448" cy="15544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Round-Robin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86600" y="1901952"/>
            <a:ext cx="1828800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6328" y="2093976"/>
            <a:ext cx="155448" cy="155448"/>
          </a:xfrm>
          <a:prstGeom prst="ellipse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9019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Stealing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706624"/>
            <a:ext cx="1828800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F9A84F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2898648"/>
            <a:ext cx="155448" cy="155448"/>
          </a:xfrm>
          <a:prstGeom prst="ellipse">
            <a:avLst/>
          </a:prstGeom>
          <a:solidFill>
            <a:srgbClr val="F9A84F"/>
          </a:solidFill>
          <a:ln w="12700">
            <a:solidFill>
              <a:srgbClr val="F9A8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706624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Migration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3511296"/>
            <a:ext cx="1828800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C77DFF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3703320"/>
            <a:ext cx="155448" cy="155448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511296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Aging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sit idle.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piles up.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processors have multiple cores — but without smart scheduling,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cores are overloaded while others do nothing. That is wasted hardware.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1261872" cy="150876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2186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6301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261872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Low-priority processes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CPU time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47088" y="3154680"/>
            <a:ext cx="1261872" cy="150876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47088" y="32186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47088" y="36301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47088" y="3931920"/>
            <a:ext cx="1261872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sit empty while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are overloaded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3154680"/>
            <a:ext cx="1261872" cy="150876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36976" y="32186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36976" y="36301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Throughput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36976" y="3931920"/>
            <a:ext cx="1261872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jobs complete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unit of time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749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Load Balancing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640080" cy="34747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640080"/>
            <a:ext cx="640080" cy="4023360"/>
          </a:xfrm>
          <a:prstGeom prst="rect">
            <a:avLst/>
          </a:prstGeom>
          <a:solidFill>
            <a:srgbClr val="4F9CF9">
              <a:alpha val="70000"/>
            </a:srgbClr>
          </a:solidFill>
          <a:ln w="12700">
            <a:solidFill>
              <a:srgbClr val="4F9CF9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188720"/>
            <a:ext cx="640080" cy="34747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389120"/>
            <a:ext cx="640080" cy="274320"/>
          </a:xfrm>
          <a:prstGeom prst="rect">
            <a:avLst/>
          </a:prstGeom>
          <a:solidFill>
            <a:srgbClr val="4FDD9A">
              <a:alpha val="70000"/>
            </a:srgbClr>
          </a:solidFill>
          <a:ln w="12700">
            <a:solidFill>
              <a:srgbClr val="4FDD9A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40880" y="1188720"/>
            <a:ext cx="640080" cy="34747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188720"/>
            <a:ext cx="640080" cy="3474720"/>
          </a:xfrm>
          <a:prstGeom prst="rect">
            <a:avLst/>
          </a:prstGeom>
          <a:solidFill>
            <a:srgbClr val="F9A84F">
              <a:alpha val="70000"/>
            </a:srgbClr>
          </a:solidFill>
          <a:ln w="12700">
            <a:solidFill>
              <a:srgbClr val="F9A84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09560" y="1188720"/>
            <a:ext cx="640080" cy="34747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4480560"/>
            <a:ext cx="640080" cy="182880"/>
          </a:xfrm>
          <a:prstGeom prst="rect">
            <a:avLst/>
          </a:prstGeom>
          <a:solidFill>
            <a:srgbClr val="C77DFF">
              <a:alpha val="70000"/>
            </a:srgbClr>
          </a:solidFill>
          <a:ln w="12700">
            <a:solidFill>
              <a:srgbClr val="C77DFF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347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Heavy imbalance!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algorithms. One scheduler.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4023360" cy="1572768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508760"/>
            <a:ext cx="54864" cy="157276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76072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Round-Robin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" y="244144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the highest-priority ready process. Preempt after 4 ticks.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023360" cy="1572768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54864" cy="1572768"/>
          </a:xfrm>
          <a:prstGeom prst="rect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65192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Stealing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244144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cores actively pull processes from the busiest queue.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218688"/>
            <a:ext cx="4023360" cy="1572768"/>
          </a:xfrm>
          <a:prstGeom prst="rect">
            <a:avLst/>
          </a:prstGeom>
          <a:solidFill>
            <a:srgbClr val="1E2636"/>
          </a:solidFill>
          <a:ln w="12700">
            <a:solidFill>
              <a:srgbClr val="F9A84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18688"/>
            <a:ext cx="54864" cy="1572768"/>
          </a:xfrm>
          <a:prstGeom prst="rect">
            <a:avLst/>
          </a:prstGeom>
          <a:solidFill>
            <a:srgbClr val="F9A84F"/>
          </a:solidFill>
          <a:ln w="12700">
            <a:solidFill>
              <a:srgbClr val="F9A8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3284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" y="41513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ticks: rebalance cores that differ by more than 2 processes.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218688"/>
            <a:ext cx="4023360" cy="1572768"/>
          </a:xfrm>
          <a:prstGeom prst="rect">
            <a:avLst/>
          </a:prstGeom>
          <a:solidFill>
            <a:srgbClr val="1E2636"/>
          </a:solidFill>
          <a:ln w="12700">
            <a:solidFill>
              <a:srgbClr val="C77DFF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18688"/>
            <a:ext cx="54864" cy="157276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3284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65192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Aging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65192" y="41513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ticks: boost waiting process priorities to prevent starvation.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Round-Robin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5361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core: always dispatch the highest-priority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process. Preempt after QUANTUM = 4 ticks.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95728"/>
            <a:ext cx="4389120" cy="512064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3957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Quantum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239572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4389120" cy="512064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175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rule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301752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priority number wins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39312"/>
            <a:ext cx="4389120" cy="512064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6393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expiry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363931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re-queued, next chosen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4389120" cy="512064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426110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Starvation 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426110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fixed by Aging (algo 4)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22976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25312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27648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9984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34656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36992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39328" y="71323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1005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pri:1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38928" y="1024128"/>
            <a:ext cx="365760" cy="402336"/>
          </a:xfrm>
          <a:prstGeom prst="rect">
            <a:avLst/>
          </a:prstGeom>
          <a:solidFill>
            <a:srgbClr val="4F9CF9">
              <a:alpha val="80000"/>
            </a:srgbClr>
          </a:solidFill>
          <a:ln w="12700">
            <a:solidFill>
              <a:srgbClr val="4F9CF9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1264" y="1024128"/>
            <a:ext cx="365760" cy="402336"/>
          </a:xfrm>
          <a:prstGeom prst="rect">
            <a:avLst/>
          </a:prstGeom>
          <a:solidFill>
            <a:srgbClr val="4F9CF9">
              <a:alpha val="80000"/>
            </a:srgbClr>
          </a:solidFill>
          <a:ln w="12700">
            <a:solidFill>
              <a:srgbClr val="4F9CF9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024128"/>
            <a:ext cx="365760" cy="402336"/>
          </a:xfrm>
          <a:prstGeom prst="rect">
            <a:avLst/>
          </a:prstGeom>
          <a:solidFill>
            <a:srgbClr val="4F9CF9">
              <a:alpha val="80000"/>
            </a:srgbClr>
          </a:solidFill>
          <a:ln w="12700">
            <a:solidFill>
              <a:srgbClr val="4F9CF9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5936" y="1024128"/>
            <a:ext cx="365760" cy="402336"/>
          </a:xfrm>
          <a:prstGeom prst="rect">
            <a:avLst/>
          </a:prstGeom>
          <a:solidFill>
            <a:srgbClr val="4F9CF9">
              <a:alpha val="80000"/>
            </a:srgbClr>
          </a:solidFill>
          <a:ln w="12700">
            <a:solidFill>
              <a:srgbClr val="4F9CF9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48272" y="102412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0608" y="102412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2944" y="102412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102412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7616" y="102412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pri:3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38928" y="180136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41264" y="180136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180136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45936" y="180136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48272" y="180136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0608" y="180136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52944" y="1801368"/>
            <a:ext cx="365760" cy="402336"/>
          </a:xfrm>
          <a:prstGeom prst="rect">
            <a:avLst/>
          </a:prstGeom>
          <a:solidFill>
            <a:srgbClr val="4FDD9A">
              <a:alpha val="80000"/>
            </a:srgbClr>
          </a:solidFill>
          <a:ln w="12700">
            <a:solidFill>
              <a:srgbClr val="4FDD9A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55280" y="1801368"/>
            <a:ext cx="365760" cy="402336"/>
          </a:xfrm>
          <a:prstGeom prst="rect">
            <a:avLst/>
          </a:prstGeom>
          <a:solidFill>
            <a:srgbClr val="4FDD9A">
              <a:alpha val="80000"/>
            </a:srgbClr>
          </a:solidFill>
          <a:ln w="12700">
            <a:solidFill>
              <a:srgbClr val="4FDD9A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57616" y="1801368"/>
            <a:ext cx="365760" cy="402336"/>
          </a:xfrm>
          <a:prstGeom prst="rect">
            <a:avLst/>
          </a:prstGeom>
          <a:solidFill>
            <a:srgbClr val="4FDD9A">
              <a:alpha val="80000"/>
            </a:srgbClr>
          </a:solidFill>
          <a:ln w="12700">
            <a:solidFill>
              <a:srgbClr val="4FDD9A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pri:2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38928" y="257860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41264" y="257860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257860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45936" y="257860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48272" y="2578608"/>
            <a:ext cx="365760" cy="402336"/>
          </a:xfrm>
          <a:prstGeom prst="rect">
            <a:avLst/>
          </a:prstGeom>
          <a:solidFill>
            <a:srgbClr val="F9A84F">
              <a:alpha val="80000"/>
            </a:srgbClr>
          </a:solidFill>
          <a:ln w="12700">
            <a:solidFill>
              <a:srgbClr val="F9A84F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50608" y="2578608"/>
            <a:ext cx="365760" cy="402336"/>
          </a:xfrm>
          <a:prstGeom prst="rect">
            <a:avLst/>
          </a:prstGeom>
          <a:solidFill>
            <a:srgbClr val="F9A84F">
              <a:alpha val="80000"/>
            </a:srgbClr>
          </a:solidFill>
          <a:ln w="12700">
            <a:solidFill>
              <a:srgbClr val="F9A84F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52944" y="257860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55280" y="257860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57616" y="2578608"/>
            <a:ext cx="365760" cy="402336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3291840"/>
            <a:ext cx="1609344" cy="0"/>
          </a:xfrm>
          <a:prstGeom prst="line">
            <a:avLst/>
          </a:prstGeom>
          <a:noFill/>
          <a:ln w="19050">
            <a:solidFill>
              <a:srgbClr val="4F9CF9"/>
            </a:solidFill>
            <a:prstDash val="sysDash"/>
          </a:ln>
        </p:spPr>
      </p:sp>
      <p:sp>
        <p:nvSpPr>
          <p:cNvPr id="59" name="Text 57"/>
          <p:cNvSpPr/>
          <p:nvPr/>
        </p:nvSpPr>
        <p:spPr>
          <a:xfrm>
            <a:off x="5074920" y="33649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QUANTUM = 4 →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7492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finishes → P2 (next highest priority) runs → P1 runs last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7492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= highest urgency  ·  Priority 10 = lowest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Stealing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5361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core becomes idle, it doesn't wait.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actively steals a process from the busiest core.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23160"/>
            <a:ext cx="274320" cy="274320"/>
          </a:xfrm>
          <a:prstGeom prst="ellipse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becomes idle — nothing running, queue empty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90088"/>
            <a:ext cx="274320" cy="274320"/>
          </a:xfrm>
          <a:prstGeom prst="ellipse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9900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cores → find the one with the most queued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557016"/>
            <a:ext cx="274320" cy="274320"/>
          </a:xfrm>
          <a:prstGeom prst="ellipse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5570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its lowest-priority waiting process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123944"/>
            <a:ext cx="274320" cy="274320"/>
          </a:xfrm>
          <a:prstGeom prst="ellipse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123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41239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the idle core's queue → immediately runs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663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source core must have ≥ 2 queued (keeps it from emptying the only busy core)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492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STEAL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STEAL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685800"/>
            <a:ext cx="1554480" cy="2212848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685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 (busy)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1069848"/>
            <a:ext cx="1371600" cy="347472"/>
          </a:xfrm>
          <a:prstGeom prst="rect">
            <a:avLst/>
          </a:prstGeom>
          <a:solidFill>
            <a:srgbClr val="4F9CF9">
              <a:alpha val="30000"/>
            </a:srgbClr>
          </a:solidFill>
          <a:ln w="12700">
            <a:solidFill>
              <a:srgbClr val="4F9CF9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069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1490472"/>
            <a:ext cx="1371600" cy="347472"/>
          </a:xfrm>
          <a:prstGeom prst="rect">
            <a:avLst/>
          </a:prstGeom>
          <a:solidFill>
            <a:srgbClr val="4F9CF9">
              <a:alpha val="30000"/>
            </a:srgbClr>
          </a:solidFill>
          <a:ln w="12700">
            <a:solidFill>
              <a:srgbClr val="4F9CF9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490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1911096"/>
            <a:ext cx="1371600" cy="347472"/>
          </a:xfrm>
          <a:prstGeom prst="rect">
            <a:avLst/>
          </a:prstGeom>
          <a:solidFill>
            <a:srgbClr val="4F9CF9">
              <a:alpha val="30000"/>
            </a:srgbClr>
          </a:solidFill>
          <a:ln w="12700">
            <a:solidFill>
              <a:srgbClr val="4F9CF9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911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331720"/>
            <a:ext cx="1371600" cy="347472"/>
          </a:xfrm>
          <a:prstGeom prst="rect">
            <a:avLst/>
          </a:prstGeom>
          <a:solidFill>
            <a:srgbClr val="4F9CF9">
              <a:alpha val="30000"/>
            </a:srgbClr>
          </a:solidFill>
          <a:ln w="12700">
            <a:solidFill>
              <a:srgbClr val="4F9CF9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566160"/>
            <a:ext cx="1554480" cy="7315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913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3401568"/>
            <a:ext cx="0" cy="182880"/>
          </a:xfrm>
          <a:prstGeom prst="line">
            <a:avLst/>
          </a:prstGeom>
          <a:noFill/>
          <a:ln w="25400">
            <a:solidFill>
              <a:srgbClr val="4FDD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STEAL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40880" y="685800"/>
            <a:ext cx="1554480" cy="1773936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685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 (busy)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32320" y="1069848"/>
            <a:ext cx="1371600" cy="347472"/>
          </a:xfrm>
          <a:prstGeom prst="rect">
            <a:avLst/>
          </a:prstGeom>
          <a:solidFill>
            <a:srgbClr val="4F9CF9">
              <a:alpha val="30000"/>
            </a:srgbClr>
          </a:solidFill>
          <a:ln w="12700">
            <a:solidFill>
              <a:srgbClr val="4F9CF9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1069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0" y="1490472"/>
            <a:ext cx="1371600" cy="347472"/>
          </a:xfrm>
          <a:prstGeom prst="rect">
            <a:avLst/>
          </a:prstGeom>
          <a:solidFill>
            <a:srgbClr val="4F9CF9">
              <a:alpha val="30000"/>
            </a:srgbClr>
          </a:solidFill>
          <a:ln w="12700">
            <a:solidFill>
              <a:srgbClr val="4F9CF9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1490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32320" y="1911096"/>
            <a:ext cx="1371600" cy="347472"/>
          </a:xfrm>
          <a:prstGeom prst="rect">
            <a:avLst/>
          </a:prstGeom>
          <a:solidFill>
            <a:srgbClr val="4F9CF9">
              <a:alpha val="30000"/>
            </a:srgbClr>
          </a:solidFill>
          <a:ln w="12700">
            <a:solidFill>
              <a:srgbClr val="4F9CF9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1911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0880" y="3154680"/>
            <a:ext cx="1554480" cy="896112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32320" y="3538728"/>
            <a:ext cx="1371600" cy="347472"/>
          </a:xfrm>
          <a:prstGeom prst="rect">
            <a:avLst/>
          </a:prstGeom>
          <a:solidFill>
            <a:srgbClr val="4FDD9A">
              <a:alpha val="30000"/>
            </a:srgbClr>
          </a:solidFill>
          <a:ln w="12700">
            <a:solidFill>
              <a:srgbClr val="4FDD9A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3538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3913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running!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84F"/>
          </a:solidFill>
          <a:ln w="12700">
            <a:solidFill>
              <a:srgbClr val="F9A8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5361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ticks, scan all core pairs.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queue difference &gt; 2, migrate the least urgent process.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23160"/>
            <a:ext cx="4389120" cy="68580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242316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5 ticks?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724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frequent = migration overhead. Too rare = imbalance persists.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389120" cy="68580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320040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threshold &gt; 2?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502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difference of 1-2 is acceptable. Only migrate when it's worth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4389120" cy="68580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39776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lowest priority?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4279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least urgent — can afford the delay of moving.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20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9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621792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621792"/>
            <a:ext cx="640080" cy="1417320"/>
          </a:xfrm>
          <a:prstGeom prst="rect">
            <a:avLst/>
          </a:prstGeom>
          <a:solidFill>
            <a:srgbClr val="4F9CF9">
              <a:alpha val="75000"/>
            </a:srgbClr>
          </a:solidFill>
          <a:ln w="12700">
            <a:solidFill>
              <a:srgbClr val="4F9CF9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075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621792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1802892"/>
            <a:ext cx="640080" cy="236220"/>
          </a:xfrm>
          <a:prstGeom prst="rect">
            <a:avLst/>
          </a:prstGeom>
          <a:solidFill>
            <a:srgbClr val="4FDD9A">
              <a:alpha val="75000"/>
            </a:srgbClr>
          </a:solidFill>
          <a:ln w="12700">
            <a:solidFill>
              <a:srgbClr val="4FDD9A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075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75120" y="621792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858012"/>
            <a:ext cx="640080" cy="1181100"/>
          </a:xfrm>
          <a:prstGeom prst="rect">
            <a:avLst/>
          </a:prstGeom>
          <a:solidFill>
            <a:srgbClr val="F9A84F">
              <a:alpha val="75000"/>
            </a:srgbClr>
          </a:solidFill>
          <a:ln w="12700">
            <a:solidFill>
              <a:srgbClr val="F9A84F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075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98080" y="621792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075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22768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4871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MIGRATE 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871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163824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3872484"/>
            <a:ext cx="640080" cy="708660"/>
          </a:xfrm>
          <a:prstGeom prst="rect">
            <a:avLst/>
          </a:prstGeom>
          <a:solidFill>
            <a:srgbClr val="4F9CF9">
              <a:alpha val="75000"/>
            </a:srgbClr>
          </a:solidFill>
          <a:ln w="12700">
            <a:solidFill>
              <a:srgbClr val="4F9CF9">
                <a:alpha val="7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617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0" y="4818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3163824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4108704"/>
            <a:ext cx="640080" cy="472440"/>
          </a:xfrm>
          <a:prstGeom prst="rect">
            <a:avLst/>
          </a:prstGeom>
          <a:solidFill>
            <a:srgbClr val="4FDD9A">
              <a:alpha val="75000"/>
            </a:srgbClr>
          </a:solidFill>
          <a:ln w="12700">
            <a:solidFill>
              <a:srgbClr val="4FDD9A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617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52160" y="4818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3163824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3872484"/>
            <a:ext cx="640080" cy="708660"/>
          </a:xfrm>
          <a:prstGeom prst="rect">
            <a:avLst/>
          </a:prstGeom>
          <a:solidFill>
            <a:srgbClr val="F9A84F">
              <a:alpha val="75000"/>
            </a:srgbClr>
          </a:solidFill>
          <a:ln w="12700">
            <a:solidFill>
              <a:srgbClr val="F9A84F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4617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4818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98080" y="3163824"/>
            <a:ext cx="640080" cy="14173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4108704"/>
            <a:ext cx="640080" cy="472440"/>
          </a:xfrm>
          <a:prstGeom prst="rect">
            <a:avLst/>
          </a:prstGeom>
          <a:solidFill>
            <a:srgbClr val="C77DFF">
              <a:alpha val="75000"/>
            </a:srgbClr>
          </a:solidFill>
          <a:ln w="12700">
            <a:solidFill>
              <a:srgbClr val="C77DFF">
                <a:alpha val="7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4617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8080" y="4818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Aging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5361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ticks, every waiting process gets its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number decreased by 1 — making it more urgent.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359152"/>
            <a:ext cx="4389120" cy="914400"/>
          </a:xfrm>
          <a:prstGeom prst="rect">
            <a:avLst/>
          </a:prstGeom>
          <a:solidFill>
            <a:srgbClr val="1E2636"/>
          </a:solidFill>
          <a:ln w="12700">
            <a:solidFill>
              <a:srgbClr val="F9606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What is Starvation?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7432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low-priority process waits forever because high-priority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keep arriving and jumping the queue.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401568"/>
            <a:ext cx="4389120" cy="685800"/>
          </a:xfrm>
          <a:prstGeom prst="rect">
            <a:avLst/>
          </a:prstGeom>
          <a:solidFill>
            <a:srgbClr val="1E2636"/>
          </a:solidFill>
          <a:ln w="12700">
            <a:solidFill>
              <a:srgbClr val="C77D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465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Aging guarantees no starvation.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785616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eventually reaches priority 1 and is guaranteed to run.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92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NUMBER OVER 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685800"/>
            <a:ext cx="3657600" cy="3474720"/>
          </a:xfrm>
          <a:prstGeom prst="rect">
            <a:avLst/>
          </a:prstGeom>
          <a:solidFill>
            <a:srgbClr val="1E2636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4160520"/>
            <a:ext cx="3657600" cy="0"/>
          </a:xfrm>
          <a:prstGeom prst="line">
            <a:avLst/>
          </a:prstGeom>
          <a:noFill/>
          <a:ln w="6350">
            <a:solidFill>
              <a:srgbClr val="252F42"/>
            </a:solidFill>
            <a:prstDash val="sysDash"/>
          </a:ln>
        </p:spPr>
      </p:sp>
      <p:sp>
        <p:nvSpPr>
          <p:cNvPr id="15" name="Text 13"/>
          <p:cNvSpPr/>
          <p:nvPr/>
        </p:nvSpPr>
        <p:spPr>
          <a:xfrm>
            <a:off x="4800600" y="40507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0" y="3465576"/>
            <a:ext cx="3657600" cy="0"/>
          </a:xfrm>
          <a:prstGeom prst="line">
            <a:avLst/>
          </a:prstGeom>
          <a:noFill/>
          <a:ln w="6350">
            <a:solidFill>
              <a:srgbClr val="252F42"/>
            </a:solidFill>
            <a:prstDash val="sysDash"/>
          </a:ln>
        </p:spPr>
      </p:sp>
      <p:sp>
        <p:nvSpPr>
          <p:cNvPr id="17" name="Text 15"/>
          <p:cNvSpPr/>
          <p:nvPr/>
        </p:nvSpPr>
        <p:spPr>
          <a:xfrm>
            <a:off x="4800600" y="335584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120640" y="2770632"/>
            <a:ext cx="3657600" cy="0"/>
          </a:xfrm>
          <a:prstGeom prst="line">
            <a:avLst/>
          </a:prstGeom>
          <a:noFill/>
          <a:ln w="6350">
            <a:solidFill>
              <a:srgbClr val="252F42"/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4800600" y="266090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0" y="2075688"/>
            <a:ext cx="3657600" cy="0"/>
          </a:xfrm>
          <a:prstGeom prst="line">
            <a:avLst/>
          </a:prstGeom>
          <a:noFill/>
          <a:ln w="6350">
            <a:solidFill>
              <a:srgbClr val="252F42"/>
            </a:solidFill>
            <a:prstDash val="sysDash"/>
          </a:ln>
        </p:spPr>
      </p:sp>
      <p:sp>
        <p:nvSpPr>
          <p:cNvPr id="21" name="Text 19"/>
          <p:cNvSpPr/>
          <p:nvPr/>
        </p:nvSpPr>
        <p:spPr>
          <a:xfrm>
            <a:off x="4800600" y="19659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20640" y="1380744"/>
            <a:ext cx="3657600" cy="0"/>
          </a:xfrm>
          <a:prstGeom prst="line">
            <a:avLst/>
          </a:prstGeom>
          <a:noFill/>
          <a:ln w="6350">
            <a:solidFill>
              <a:srgbClr val="252F42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4800600" y="127101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20640" y="685800"/>
            <a:ext cx="3657600" cy="0"/>
          </a:xfrm>
          <a:prstGeom prst="line">
            <a:avLst/>
          </a:prstGeom>
          <a:noFill/>
          <a:ln w="6350">
            <a:solidFill>
              <a:srgbClr val="252F42"/>
            </a:solidFill>
            <a:prstDash val="sysDash"/>
          </a:ln>
        </p:spPr>
      </p:sp>
      <p:sp>
        <p:nvSpPr>
          <p:cNvPr id="25" name="Text 23"/>
          <p:cNvSpPr/>
          <p:nvPr/>
        </p:nvSpPr>
        <p:spPr>
          <a:xfrm>
            <a:off x="4800600" y="5760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20640" y="1380744"/>
            <a:ext cx="731520" cy="347472"/>
          </a:xfrm>
          <a:prstGeom prst="line">
            <a:avLst/>
          </a:prstGeom>
          <a:noFill/>
          <a:ln w="31750">
            <a:solidFill>
              <a:srgbClr val="C77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1728216"/>
            <a:ext cx="731520" cy="347472"/>
          </a:xfrm>
          <a:prstGeom prst="line">
            <a:avLst/>
          </a:prstGeom>
          <a:noFill/>
          <a:ln w="31750">
            <a:solidFill>
              <a:srgbClr val="C77D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2075688"/>
            <a:ext cx="731520" cy="347472"/>
          </a:xfrm>
          <a:prstGeom prst="line">
            <a:avLst/>
          </a:prstGeom>
          <a:noFill/>
          <a:ln w="31750">
            <a:solidFill>
              <a:srgbClr val="C77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2423160"/>
            <a:ext cx="731520" cy="347472"/>
          </a:xfrm>
          <a:prstGeom prst="line">
            <a:avLst/>
          </a:prstGeom>
          <a:noFill/>
          <a:ln w="31750">
            <a:solidFill>
              <a:srgbClr val="C77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2770632"/>
            <a:ext cx="731520" cy="347472"/>
          </a:xfrm>
          <a:prstGeom prst="line">
            <a:avLst/>
          </a:prstGeom>
          <a:noFill/>
          <a:ln w="31750">
            <a:solidFill>
              <a:srgbClr val="C77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1289304"/>
            <a:ext cx="182880" cy="18288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11064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1636776"/>
            <a:ext cx="182880" cy="18288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14538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92240" y="1984248"/>
            <a:ext cx="182880" cy="18288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1801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2331720"/>
            <a:ext cx="182880" cy="18288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32320" y="2148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2679192"/>
            <a:ext cx="182880" cy="18288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4963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686800" y="3026664"/>
            <a:ext cx="182880" cy="18288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41970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95360" y="2843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20640" y="4453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number (lower = more urgent)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4690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Aging brings priority to 1 — guaranteed to run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CONTROL BLOCK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OS knows about a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3566160"/>
          </a:xfrm>
          <a:prstGeom prst="rect">
            <a:avLst/>
          </a:prstGeom>
          <a:solidFill>
            <a:srgbClr val="0A0F1A"/>
          </a:solidFill>
          <a:ln w="12700">
            <a:solidFill>
              <a:srgbClr val="4F9CF9">
                <a:alpha val="4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Process Control Block (PCB)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9C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id;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889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unique process 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9C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burst;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889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CPU needed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87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9C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rem;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8892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remaining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89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priority;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8892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1=high, 10=low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191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D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arrive;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88920" y="3191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arrival tick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state;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8892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NEW/READY/RUN/DONE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D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core;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889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assigned 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migrations;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88920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times moved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425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PCB;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280160"/>
            <a:ext cx="4023360" cy="777240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280160"/>
            <a:ext cx="45720" cy="7772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280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10912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0" y="1280160"/>
            <a:ext cx="2377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READY → RUNNING → DONE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194560"/>
            <a:ext cx="4023360" cy="777240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194560"/>
            <a:ext cx="45720" cy="777240"/>
          </a:xfrm>
          <a:prstGeom prst="rect">
            <a:avLst/>
          </a:prstGeom>
          <a:solidFill>
            <a:srgbClr val="4FDD9A"/>
          </a:solidFill>
          <a:ln w="12700">
            <a:solidFill>
              <a:srgbClr val="4FDD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194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assignment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10912" y="25420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40080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changes on steal or migration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108960"/>
            <a:ext cx="4023360" cy="777240"/>
          </a:xfrm>
          <a:prstGeom prst="rect">
            <a:avLst/>
          </a:prstGeom>
          <a:solidFill>
            <a:srgbClr val="1E2636"/>
          </a:solidFill>
          <a:ln w="12700">
            <a:solidFill>
              <a:srgbClr val="F9A84F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108960"/>
            <a:ext cx="45720" cy="777240"/>
          </a:xfrm>
          <a:prstGeom prst="rect">
            <a:avLst/>
          </a:prstGeom>
          <a:solidFill>
            <a:srgbClr val="F9A84F"/>
          </a:solidFill>
          <a:ln w="12700">
            <a:solidFill>
              <a:srgbClr val="F9A8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10912" y="3456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10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400800" y="3108960"/>
            <a:ext cx="2377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number = higher urgency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023360"/>
            <a:ext cx="4023360" cy="777240"/>
          </a:xfrm>
          <a:prstGeom prst="rect">
            <a:avLst/>
          </a:prstGeom>
          <a:solidFill>
            <a:srgbClr val="1E2636"/>
          </a:solidFill>
          <a:ln w="12700">
            <a:solidFill>
              <a:srgbClr val="C77DFF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023360"/>
            <a:ext cx="45720" cy="7772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10912" y="4370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&amp; WT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40080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completion for reporting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114800" cy="1371600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Finish Time − Arrival 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00200" y="1947672"/>
            <a:ext cx="2743200" cy="548640"/>
          </a:xfrm>
          <a:prstGeom prst="rect">
            <a:avLst/>
          </a:prstGeom>
          <a:solidFill>
            <a:srgbClr val="4F9CF9">
              <a:alpha val="18000"/>
            </a:srgbClr>
          </a:solidFill>
          <a:ln w="12700">
            <a:solidFill>
              <a:srgbClr val="4F9CF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result: ~19 ticks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114800" cy="1371600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4173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3776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TAT − Burst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947672"/>
            <a:ext cx="2743200" cy="548640"/>
          </a:xfrm>
          <a:prstGeom prst="rect">
            <a:avLst/>
          </a:prstGeom>
          <a:solidFill>
            <a:srgbClr val="4FDD9A">
              <a:alpha val="18000"/>
            </a:srgbClr>
          </a:solidFill>
          <a:ln w="12700">
            <a:solidFill>
              <a:srgbClr val="4FDD9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result: ~8 ticks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4114800" cy="1371600"/>
          </a:xfrm>
          <a:prstGeom prst="rect">
            <a:avLst/>
          </a:prstGeom>
          <a:solidFill>
            <a:srgbClr val="1E2636"/>
          </a:solidFill>
          <a:ln w="12700">
            <a:solidFill>
              <a:srgbClr val="F9A84F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260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48640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Utilization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Busy Ticks / Total Ticks × 100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600200" y="3456432"/>
            <a:ext cx="2743200" cy="548640"/>
          </a:xfrm>
          <a:prstGeom prst="rect">
            <a:avLst/>
          </a:prstGeom>
          <a:solidFill>
            <a:srgbClr val="F9A84F">
              <a:alpha val="18000"/>
            </a:srgbClr>
          </a:solidFill>
          <a:ln w="12700">
            <a:solidFill>
              <a:srgbClr val="F9A84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3456432"/>
            <a:ext cx="2743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result: 75-95%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4114800" cy="1371600"/>
          </a:xfrm>
          <a:prstGeom prst="rect">
            <a:avLst/>
          </a:prstGeom>
          <a:solidFill>
            <a:srgbClr val="1E2636"/>
          </a:solidFill>
          <a:ln w="12700">
            <a:solidFill>
              <a:srgbClr val="C77DFF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29260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937760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Processes Done / Total Ticks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3456432"/>
            <a:ext cx="2743200" cy="548640"/>
          </a:xfrm>
          <a:prstGeom prst="rect">
            <a:avLst/>
          </a:prstGeom>
          <a:solidFill>
            <a:srgbClr val="C77DFF">
              <a:alpha val="18000"/>
            </a:srgbClr>
          </a:solidFill>
          <a:ln w="12700">
            <a:solidFill>
              <a:srgbClr val="C77D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456432"/>
            <a:ext cx="27432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result: 0.12/tick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TAT and WT = better performance  ·  Higher utilization = less wasted hardware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4F9CF9">
              <a:alpha val="6000"/>
            </a:srgbClr>
          </a:solidFill>
          <a:ln w="12700">
            <a:solidFill>
              <a:srgbClr val="4F9CF9">
                <a:alpha val="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1920240" cy="2377440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556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10 processes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across 4 cores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664208"/>
            <a:ext cx="1920240" cy="2377440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7556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⏭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423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mode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tick by tick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explanation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664208"/>
            <a:ext cx="1920240" cy="2377440"/>
          </a:xfrm>
          <a:prstGeom prst="rect">
            <a:avLst/>
          </a:prstGeom>
          <a:solidFill>
            <a:srgbClr val="1E2636"/>
          </a:solidFill>
          <a:ln w="12700">
            <a:solidFill>
              <a:srgbClr val="F9A84F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7556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423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algorithms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Work Stealing OFF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cores go idle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1664208"/>
            <a:ext cx="1920240" cy="2377440"/>
          </a:xfrm>
          <a:prstGeom prst="rect">
            <a:avLst/>
          </a:prstGeom>
          <a:solidFill>
            <a:srgbClr val="1E2636"/>
          </a:solidFill>
          <a:ln w="12700">
            <a:solidFill>
              <a:srgbClr val="C77DFF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7556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2423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process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mid-simulation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get assigned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 ui/index.html   in any browser — no install needed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backend: gcc -o scheduler scheduler.c -Wall &amp;&amp; ./scheduler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two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977640" cy="3520440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207008" y="1572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scheduler.c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engine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28016" cy="12801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585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Blocks (PCBs)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28016" cy="12801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157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Per-core queue management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18688"/>
            <a:ext cx="128016" cy="12801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72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scheduling algorithms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128016" cy="12801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30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 &amp; statistics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128016" cy="128016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873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Compile: gcc scheduler.c -Wall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1325880"/>
            <a:ext cx="3977640" cy="3520440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417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80644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ui/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0644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304288"/>
            <a:ext cx="3703320" cy="484632"/>
          </a:xfrm>
          <a:prstGeom prst="rect">
            <a:avLst/>
          </a:prstGeom>
          <a:solidFill>
            <a:srgbClr val="0A0F1A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304288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engine.js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2304288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(mirrors C code)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880360"/>
            <a:ext cx="3703320" cy="484632"/>
          </a:xfrm>
          <a:prstGeom prst="rect">
            <a:avLst/>
          </a:prstGeom>
          <a:solidFill>
            <a:srgbClr val="0A0F1A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88036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renderer.js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88036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cores, Gantt, table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456432"/>
            <a:ext cx="3703320" cy="484632"/>
          </a:xfrm>
          <a:prstGeom prst="rect">
            <a:avLst/>
          </a:prstGeom>
          <a:solidFill>
            <a:srgbClr val="0A0F1A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45643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3456432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tabs, toggles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4032504"/>
            <a:ext cx="3703320" cy="484632"/>
          </a:xfrm>
          <a:prstGeom prst="rect">
            <a:avLst/>
          </a:prstGeom>
          <a:solidFill>
            <a:srgbClr val="0A0F1A"/>
          </a:solidFill>
          <a:ln w="12700">
            <a:solidFill>
              <a:srgbClr val="252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403250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D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032504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dashboard theme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6177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browser. No server needed.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4F9CF9">
              <a:alpha val="8000"/>
            </a:srgbClr>
          </a:solidFill>
          <a:ln w="12700">
            <a:solidFill>
              <a:srgbClr val="4F9CF9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C77DFF">
              <a:alpha val="7000"/>
            </a:srgbClr>
          </a:solidFill>
          <a:ln w="12700">
            <a:solidFill>
              <a:srgbClr val="C77DFF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3154680"/>
            <a:ext cx="1901952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4F9CF9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15468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96312" y="3154680"/>
            <a:ext cx="1901952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4FDD9A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315468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D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Processes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81144" y="3154680"/>
            <a:ext cx="1901952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F9A84F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315468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CPU Cores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65976" y="3154680"/>
            <a:ext cx="1901952" cy="594360"/>
          </a:xfrm>
          <a:prstGeom prst="rect">
            <a:avLst/>
          </a:prstGeom>
          <a:solidFill>
            <a:srgbClr val="1E2636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3154680"/>
            <a:ext cx="1901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Starvation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CSE316 · Operating Systems · Session 2025-26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Multi-Core Load Balancing Scheduler</dc:title>
  <dc:subject>PptxGenJS Presentation</dc:subject>
  <dc:creator>CSE316 Group</dc:creator>
  <cp:lastModifiedBy>CSE316 Group</cp:lastModifiedBy>
  <cp:revision>1</cp:revision>
  <dcterms:created xsi:type="dcterms:W3CDTF">2026-04-30T10:42:44Z</dcterms:created>
  <dcterms:modified xsi:type="dcterms:W3CDTF">2026-04-30T10:42:44Z</dcterms:modified>
</cp:coreProperties>
</file>